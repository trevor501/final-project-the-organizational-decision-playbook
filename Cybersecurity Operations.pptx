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5D70AC-3430-4464-B342-BB001D34AA7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EA5E34-889B-4CFB-9615-719252AF9473}">
      <dgm:prSet/>
      <dgm:spPr/>
      <dgm:t>
        <a:bodyPr/>
        <a:lstStyle/>
        <a:p>
          <a:r>
            <a:rPr lang="en-US"/>
            <a:t>Minimize total risk from the remediation plan, net of remediation, and cost penalties. </a:t>
          </a:r>
        </a:p>
      </dgm:t>
    </dgm:pt>
    <dgm:pt modelId="{8EB16934-EB93-483D-BEB0-22D6563AD36B}" type="parTrans" cxnId="{20825950-54BF-494B-B4A1-65A0E2ACBC17}">
      <dgm:prSet/>
      <dgm:spPr/>
      <dgm:t>
        <a:bodyPr/>
        <a:lstStyle/>
        <a:p>
          <a:endParaRPr lang="en-US"/>
        </a:p>
      </dgm:t>
    </dgm:pt>
    <dgm:pt modelId="{62F1B4B6-F157-4CCA-AB38-7E655F12E9F9}" type="sibTrans" cxnId="{20825950-54BF-494B-B4A1-65A0E2ACBC17}">
      <dgm:prSet/>
      <dgm:spPr/>
      <dgm:t>
        <a:bodyPr/>
        <a:lstStyle/>
        <a:p>
          <a:endParaRPr lang="en-US"/>
        </a:p>
      </dgm:t>
    </dgm:pt>
    <dgm:pt modelId="{AA8FB3DA-E75D-436C-8C9E-7110311E245E}">
      <dgm:prSet/>
      <dgm:spPr/>
      <dgm:t>
        <a:bodyPr/>
        <a:lstStyle/>
        <a:p>
          <a:r>
            <a:rPr lang="en-US"/>
            <a:t>The model tries to fix the vulnerabilities that produce the largest security risk for the organization, while still respecting budget and operational effort.</a:t>
          </a:r>
        </a:p>
      </dgm:t>
    </dgm:pt>
    <dgm:pt modelId="{77B2E2D6-5D45-4FCD-934F-40229501006D}" type="parTrans" cxnId="{688A5268-4134-444F-B7E3-39E93D6F06ED}">
      <dgm:prSet/>
      <dgm:spPr/>
      <dgm:t>
        <a:bodyPr/>
        <a:lstStyle/>
        <a:p>
          <a:endParaRPr lang="en-US"/>
        </a:p>
      </dgm:t>
    </dgm:pt>
    <dgm:pt modelId="{2EF8F4E1-C904-4D76-A330-9CADD22366F0}" type="sibTrans" cxnId="{688A5268-4134-444F-B7E3-39E93D6F06ED}">
      <dgm:prSet/>
      <dgm:spPr/>
      <dgm:t>
        <a:bodyPr/>
        <a:lstStyle/>
        <a:p>
          <a:endParaRPr lang="en-US"/>
        </a:p>
      </dgm:t>
    </dgm:pt>
    <dgm:pt modelId="{6820D86D-C7AD-4951-BE5F-F7160A8D0D5C}">
      <dgm:prSet/>
      <dgm:spPr/>
      <dgm:t>
        <a:bodyPr/>
        <a:lstStyle/>
        <a:p>
          <a:r>
            <a:rPr lang="en-US"/>
            <a:t>A model is needed so that the VP can recommend the best risk reduction action under the competing operational limits.</a:t>
          </a:r>
        </a:p>
      </dgm:t>
    </dgm:pt>
    <dgm:pt modelId="{4E71BF55-EB36-4040-9564-B371F142C038}" type="parTrans" cxnId="{BCFA4B22-FCD8-4F8C-91E4-4C19F08D7467}">
      <dgm:prSet/>
      <dgm:spPr/>
      <dgm:t>
        <a:bodyPr/>
        <a:lstStyle/>
        <a:p>
          <a:endParaRPr lang="en-US"/>
        </a:p>
      </dgm:t>
    </dgm:pt>
    <dgm:pt modelId="{22D5877B-BB1C-4C8C-9B64-BAD288648A5B}" type="sibTrans" cxnId="{BCFA4B22-FCD8-4F8C-91E4-4C19F08D7467}">
      <dgm:prSet/>
      <dgm:spPr/>
      <dgm:t>
        <a:bodyPr/>
        <a:lstStyle/>
        <a:p>
          <a:endParaRPr lang="en-US"/>
        </a:p>
      </dgm:t>
    </dgm:pt>
    <dgm:pt modelId="{9093AE4C-F951-43A4-86F4-648EB46F132A}" type="pres">
      <dgm:prSet presAssocID="{865D70AC-3430-4464-B342-BB001D34AA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0CBE27-C0FF-45EB-A976-EC329D7E247B}" type="pres">
      <dgm:prSet presAssocID="{66EA5E34-889B-4CFB-9615-719252AF9473}" presName="hierRoot1" presStyleCnt="0"/>
      <dgm:spPr/>
    </dgm:pt>
    <dgm:pt modelId="{7083248E-C7AF-4E60-8464-E576C7FA4926}" type="pres">
      <dgm:prSet presAssocID="{66EA5E34-889B-4CFB-9615-719252AF9473}" presName="composite" presStyleCnt="0"/>
      <dgm:spPr/>
    </dgm:pt>
    <dgm:pt modelId="{F6CFDB05-4D11-42EB-8EBB-81113CC45C40}" type="pres">
      <dgm:prSet presAssocID="{66EA5E34-889B-4CFB-9615-719252AF9473}" presName="background" presStyleLbl="node0" presStyleIdx="0" presStyleCnt="3"/>
      <dgm:spPr/>
    </dgm:pt>
    <dgm:pt modelId="{C46F4C79-4C09-4D17-AD41-9D774001AD80}" type="pres">
      <dgm:prSet presAssocID="{66EA5E34-889B-4CFB-9615-719252AF9473}" presName="text" presStyleLbl="fgAcc0" presStyleIdx="0" presStyleCnt="3">
        <dgm:presLayoutVars>
          <dgm:chPref val="3"/>
        </dgm:presLayoutVars>
      </dgm:prSet>
      <dgm:spPr/>
    </dgm:pt>
    <dgm:pt modelId="{E7A38811-743B-423C-A6FF-E78130A049B0}" type="pres">
      <dgm:prSet presAssocID="{66EA5E34-889B-4CFB-9615-719252AF9473}" presName="hierChild2" presStyleCnt="0"/>
      <dgm:spPr/>
    </dgm:pt>
    <dgm:pt modelId="{D9014B58-EB7A-455B-B54B-881CC740EFC0}" type="pres">
      <dgm:prSet presAssocID="{AA8FB3DA-E75D-436C-8C9E-7110311E245E}" presName="hierRoot1" presStyleCnt="0"/>
      <dgm:spPr/>
    </dgm:pt>
    <dgm:pt modelId="{251C6D6C-1FA9-411F-881A-2E83AC6DFF3B}" type="pres">
      <dgm:prSet presAssocID="{AA8FB3DA-E75D-436C-8C9E-7110311E245E}" presName="composite" presStyleCnt="0"/>
      <dgm:spPr/>
    </dgm:pt>
    <dgm:pt modelId="{C05A478A-B934-418C-9B6D-1A88AAB2EB4D}" type="pres">
      <dgm:prSet presAssocID="{AA8FB3DA-E75D-436C-8C9E-7110311E245E}" presName="background" presStyleLbl="node0" presStyleIdx="1" presStyleCnt="3"/>
      <dgm:spPr/>
    </dgm:pt>
    <dgm:pt modelId="{01B10285-E34D-4D05-898B-BC8E87E4F9C9}" type="pres">
      <dgm:prSet presAssocID="{AA8FB3DA-E75D-436C-8C9E-7110311E245E}" presName="text" presStyleLbl="fgAcc0" presStyleIdx="1" presStyleCnt="3">
        <dgm:presLayoutVars>
          <dgm:chPref val="3"/>
        </dgm:presLayoutVars>
      </dgm:prSet>
      <dgm:spPr/>
    </dgm:pt>
    <dgm:pt modelId="{A137C155-9FDE-4431-8C02-A8DB2E208277}" type="pres">
      <dgm:prSet presAssocID="{AA8FB3DA-E75D-436C-8C9E-7110311E245E}" presName="hierChild2" presStyleCnt="0"/>
      <dgm:spPr/>
    </dgm:pt>
    <dgm:pt modelId="{503ADDE7-D027-4134-911D-57EB56D9FCC1}" type="pres">
      <dgm:prSet presAssocID="{6820D86D-C7AD-4951-BE5F-F7160A8D0D5C}" presName="hierRoot1" presStyleCnt="0"/>
      <dgm:spPr/>
    </dgm:pt>
    <dgm:pt modelId="{D7842CA5-520B-4C63-AD3B-76B43FBCF79A}" type="pres">
      <dgm:prSet presAssocID="{6820D86D-C7AD-4951-BE5F-F7160A8D0D5C}" presName="composite" presStyleCnt="0"/>
      <dgm:spPr/>
    </dgm:pt>
    <dgm:pt modelId="{AB55EEE8-CCFF-409D-8466-83984C343035}" type="pres">
      <dgm:prSet presAssocID="{6820D86D-C7AD-4951-BE5F-F7160A8D0D5C}" presName="background" presStyleLbl="node0" presStyleIdx="2" presStyleCnt="3"/>
      <dgm:spPr/>
    </dgm:pt>
    <dgm:pt modelId="{7DEC1D6F-FA51-4FAD-9C66-E456D9E5E252}" type="pres">
      <dgm:prSet presAssocID="{6820D86D-C7AD-4951-BE5F-F7160A8D0D5C}" presName="text" presStyleLbl="fgAcc0" presStyleIdx="2" presStyleCnt="3">
        <dgm:presLayoutVars>
          <dgm:chPref val="3"/>
        </dgm:presLayoutVars>
      </dgm:prSet>
      <dgm:spPr/>
    </dgm:pt>
    <dgm:pt modelId="{37C4748D-74AA-4014-BA0A-376AB7CCC6B9}" type="pres">
      <dgm:prSet presAssocID="{6820D86D-C7AD-4951-BE5F-F7160A8D0D5C}" presName="hierChild2" presStyleCnt="0"/>
      <dgm:spPr/>
    </dgm:pt>
  </dgm:ptLst>
  <dgm:cxnLst>
    <dgm:cxn modelId="{BCFA4B22-FCD8-4F8C-91E4-4C19F08D7467}" srcId="{865D70AC-3430-4464-B342-BB001D34AA7E}" destId="{6820D86D-C7AD-4951-BE5F-F7160A8D0D5C}" srcOrd="2" destOrd="0" parTransId="{4E71BF55-EB36-4040-9564-B371F142C038}" sibTransId="{22D5877B-BB1C-4C8C-9B64-BAD288648A5B}"/>
    <dgm:cxn modelId="{688A5268-4134-444F-B7E3-39E93D6F06ED}" srcId="{865D70AC-3430-4464-B342-BB001D34AA7E}" destId="{AA8FB3DA-E75D-436C-8C9E-7110311E245E}" srcOrd="1" destOrd="0" parTransId="{77B2E2D6-5D45-4FCD-934F-40229501006D}" sibTransId="{2EF8F4E1-C904-4D76-A330-9CADD22366F0}"/>
    <dgm:cxn modelId="{C7A55D6D-58F6-4E21-BDB1-198E7F58F9F8}" type="presOf" srcId="{865D70AC-3430-4464-B342-BB001D34AA7E}" destId="{9093AE4C-F951-43A4-86F4-648EB46F132A}" srcOrd="0" destOrd="0" presId="urn:microsoft.com/office/officeart/2005/8/layout/hierarchy1"/>
    <dgm:cxn modelId="{20825950-54BF-494B-B4A1-65A0E2ACBC17}" srcId="{865D70AC-3430-4464-B342-BB001D34AA7E}" destId="{66EA5E34-889B-4CFB-9615-719252AF9473}" srcOrd="0" destOrd="0" parTransId="{8EB16934-EB93-483D-BEB0-22D6563AD36B}" sibTransId="{62F1B4B6-F157-4CCA-AB38-7E655F12E9F9}"/>
    <dgm:cxn modelId="{21EE3671-03C0-4437-972A-0F7A280EC686}" type="presOf" srcId="{66EA5E34-889B-4CFB-9615-719252AF9473}" destId="{C46F4C79-4C09-4D17-AD41-9D774001AD80}" srcOrd="0" destOrd="0" presId="urn:microsoft.com/office/officeart/2005/8/layout/hierarchy1"/>
    <dgm:cxn modelId="{5E7E9ABE-8448-4C29-A17A-475B200508A1}" type="presOf" srcId="{AA8FB3DA-E75D-436C-8C9E-7110311E245E}" destId="{01B10285-E34D-4D05-898B-BC8E87E4F9C9}" srcOrd="0" destOrd="0" presId="urn:microsoft.com/office/officeart/2005/8/layout/hierarchy1"/>
    <dgm:cxn modelId="{8EDABBDD-A376-4A17-B73E-6B01F7108187}" type="presOf" srcId="{6820D86D-C7AD-4951-BE5F-F7160A8D0D5C}" destId="{7DEC1D6F-FA51-4FAD-9C66-E456D9E5E252}" srcOrd="0" destOrd="0" presId="urn:microsoft.com/office/officeart/2005/8/layout/hierarchy1"/>
    <dgm:cxn modelId="{2B7C53A2-0C74-4244-A775-B3332621D262}" type="presParOf" srcId="{9093AE4C-F951-43A4-86F4-648EB46F132A}" destId="{B70CBE27-C0FF-45EB-A976-EC329D7E247B}" srcOrd="0" destOrd="0" presId="urn:microsoft.com/office/officeart/2005/8/layout/hierarchy1"/>
    <dgm:cxn modelId="{23CA88DE-03C6-42DB-A8E0-C4BBB1296CB4}" type="presParOf" srcId="{B70CBE27-C0FF-45EB-A976-EC329D7E247B}" destId="{7083248E-C7AF-4E60-8464-E576C7FA4926}" srcOrd="0" destOrd="0" presId="urn:microsoft.com/office/officeart/2005/8/layout/hierarchy1"/>
    <dgm:cxn modelId="{7893B710-9158-443F-BAF4-D962C6217305}" type="presParOf" srcId="{7083248E-C7AF-4E60-8464-E576C7FA4926}" destId="{F6CFDB05-4D11-42EB-8EBB-81113CC45C40}" srcOrd="0" destOrd="0" presId="urn:microsoft.com/office/officeart/2005/8/layout/hierarchy1"/>
    <dgm:cxn modelId="{7FBDC0A4-8D9B-4A1E-8459-10DC42F882EE}" type="presParOf" srcId="{7083248E-C7AF-4E60-8464-E576C7FA4926}" destId="{C46F4C79-4C09-4D17-AD41-9D774001AD80}" srcOrd="1" destOrd="0" presId="urn:microsoft.com/office/officeart/2005/8/layout/hierarchy1"/>
    <dgm:cxn modelId="{05D8AF23-4AEE-4996-89C1-956428851305}" type="presParOf" srcId="{B70CBE27-C0FF-45EB-A976-EC329D7E247B}" destId="{E7A38811-743B-423C-A6FF-E78130A049B0}" srcOrd="1" destOrd="0" presId="urn:microsoft.com/office/officeart/2005/8/layout/hierarchy1"/>
    <dgm:cxn modelId="{14B6EDCB-68B5-45CC-93C0-14E55E43DACC}" type="presParOf" srcId="{9093AE4C-F951-43A4-86F4-648EB46F132A}" destId="{D9014B58-EB7A-455B-B54B-881CC740EFC0}" srcOrd="1" destOrd="0" presId="urn:microsoft.com/office/officeart/2005/8/layout/hierarchy1"/>
    <dgm:cxn modelId="{02B6EDF8-2ED8-4F54-AB98-5794E9AAE03A}" type="presParOf" srcId="{D9014B58-EB7A-455B-B54B-881CC740EFC0}" destId="{251C6D6C-1FA9-411F-881A-2E83AC6DFF3B}" srcOrd="0" destOrd="0" presId="urn:microsoft.com/office/officeart/2005/8/layout/hierarchy1"/>
    <dgm:cxn modelId="{C25B2148-E445-4F20-A4F5-2BD80B892B16}" type="presParOf" srcId="{251C6D6C-1FA9-411F-881A-2E83AC6DFF3B}" destId="{C05A478A-B934-418C-9B6D-1A88AAB2EB4D}" srcOrd="0" destOrd="0" presId="urn:microsoft.com/office/officeart/2005/8/layout/hierarchy1"/>
    <dgm:cxn modelId="{7C6294C3-122E-4D26-9583-FF95C0198856}" type="presParOf" srcId="{251C6D6C-1FA9-411F-881A-2E83AC6DFF3B}" destId="{01B10285-E34D-4D05-898B-BC8E87E4F9C9}" srcOrd="1" destOrd="0" presId="urn:microsoft.com/office/officeart/2005/8/layout/hierarchy1"/>
    <dgm:cxn modelId="{D7122829-8537-4898-854F-D6397B7F3CE8}" type="presParOf" srcId="{D9014B58-EB7A-455B-B54B-881CC740EFC0}" destId="{A137C155-9FDE-4431-8C02-A8DB2E208277}" srcOrd="1" destOrd="0" presId="urn:microsoft.com/office/officeart/2005/8/layout/hierarchy1"/>
    <dgm:cxn modelId="{635342AA-D944-4609-A199-383CFF2F6825}" type="presParOf" srcId="{9093AE4C-F951-43A4-86F4-648EB46F132A}" destId="{503ADDE7-D027-4134-911D-57EB56D9FCC1}" srcOrd="2" destOrd="0" presId="urn:microsoft.com/office/officeart/2005/8/layout/hierarchy1"/>
    <dgm:cxn modelId="{86C165F3-AAC8-4CB9-87D3-4B8A18CCFF7F}" type="presParOf" srcId="{503ADDE7-D027-4134-911D-57EB56D9FCC1}" destId="{D7842CA5-520B-4C63-AD3B-76B43FBCF79A}" srcOrd="0" destOrd="0" presId="urn:microsoft.com/office/officeart/2005/8/layout/hierarchy1"/>
    <dgm:cxn modelId="{4A1F7CBE-9E4E-4195-A5A8-FD4F549F3AD7}" type="presParOf" srcId="{D7842CA5-520B-4C63-AD3B-76B43FBCF79A}" destId="{AB55EEE8-CCFF-409D-8466-83984C343035}" srcOrd="0" destOrd="0" presId="urn:microsoft.com/office/officeart/2005/8/layout/hierarchy1"/>
    <dgm:cxn modelId="{4D160926-601E-44FF-B8EA-CB550DDD6A47}" type="presParOf" srcId="{D7842CA5-520B-4C63-AD3B-76B43FBCF79A}" destId="{7DEC1D6F-FA51-4FAD-9C66-E456D9E5E252}" srcOrd="1" destOrd="0" presId="urn:microsoft.com/office/officeart/2005/8/layout/hierarchy1"/>
    <dgm:cxn modelId="{D700BBE1-34C0-49D5-9EF7-F5D606EC2B2B}" type="presParOf" srcId="{503ADDE7-D027-4134-911D-57EB56D9FCC1}" destId="{37C4748D-74AA-4014-BA0A-376AB7CCC6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FDB05-4D11-42EB-8EBB-81113CC45C40}">
      <dsp:nvSpPr>
        <dsp:cNvPr id="0" name=""/>
        <dsp:cNvSpPr/>
      </dsp:nvSpPr>
      <dsp:spPr>
        <a:xfrm>
          <a:off x="0" y="9583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F4C79-4C09-4D17-AD41-9D774001AD80}">
      <dsp:nvSpPr>
        <dsp:cNvPr id="0" name=""/>
        <dsp:cNvSpPr/>
      </dsp:nvSpPr>
      <dsp:spPr>
        <a:xfrm>
          <a:off x="341494" y="12827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Minimize total risk from the remediation plan, net of remediation, and cost penalties. </a:t>
          </a:r>
        </a:p>
      </dsp:txBody>
      <dsp:txXfrm>
        <a:off x="398656" y="1339953"/>
        <a:ext cx="2959127" cy="1837317"/>
      </dsp:txXfrm>
    </dsp:sp>
    <dsp:sp modelId="{C05A478A-B934-418C-9B6D-1A88AAB2EB4D}">
      <dsp:nvSpPr>
        <dsp:cNvPr id="0" name=""/>
        <dsp:cNvSpPr/>
      </dsp:nvSpPr>
      <dsp:spPr>
        <a:xfrm>
          <a:off x="3756441" y="9583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10285-E34D-4D05-898B-BC8E87E4F9C9}">
      <dsp:nvSpPr>
        <dsp:cNvPr id="0" name=""/>
        <dsp:cNvSpPr/>
      </dsp:nvSpPr>
      <dsp:spPr>
        <a:xfrm>
          <a:off x="4097935" y="12827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model tries to fix the vulnerabilities that produce the largest security risk for the organization, while still respecting budget and operational effort.</a:t>
          </a:r>
        </a:p>
      </dsp:txBody>
      <dsp:txXfrm>
        <a:off x="4155097" y="1339953"/>
        <a:ext cx="2959127" cy="1837317"/>
      </dsp:txXfrm>
    </dsp:sp>
    <dsp:sp modelId="{AB55EEE8-CCFF-409D-8466-83984C343035}">
      <dsp:nvSpPr>
        <dsp:cNvPr id="0" name=""/>
        <dsp:cNvSpPr/>
      </dsp:nvSpPr>
      <dsp:spPr>
        <a:xfrm>
          <a:off x="7512882" y="9583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C1D6F-FA51-4FAD-9C66-E456D9E5E252}">
      <dsp:nvSpPr>
        <dsp:cNvPr id="0" name=""/>
        <dsp:cNvSpPr/>
      </dsp:nvSpPr>
      <dsp:spPr>
        <a:xfrm>
          <a:off x="7854377" y="12827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 model is needed so that the VP can recommend the best risk reduction action under the competing operational limits.</a:t>
          </a:r>
        </a:p>
      </dsp:txBody>
      <dsp:txXfrm>
        <a:off x="7911539" y="13399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0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33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97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26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91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02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2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11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4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7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2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3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3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0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9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61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57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63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2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41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7769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3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095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4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510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8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74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81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93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1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96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584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30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803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378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0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1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324BEB9-31BD-4B01-8A77-BDD1A6D6C94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AFAA8B19-B441-4AB4-89E6-D53BDA1B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69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216F-8610-9B1C-5E68-3859B60B7A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Cybersecurity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E4B77-4E75-A91B-AA14-0972C7E39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pPr algn="ctr"/>
            <a:r>
              <a:rPr lang="en-US" dirty="0"/>
              <a:t>ISYS 320U Prescriptive Analytics</a:t>
            </a:r>
          </a:p>
          <a:p>
            <a:pPr algn="ctr"/>
            <a:r>
              <a:rPr lang="en-US" dirty="0"/>
              <a:t>Trevor Tilley</a:t>
            </a:r>
          </a:p>
        </p:txBody>
      </p:sp>
    </p:spTree>
    <p:extLst>
      <p:ext uri="{BB962C8B-B14F-4D97-AF65-F5344CB8AC3E}">
        <p14:creationId xmlns:p14="http://schemas.microsoft.com/office/powerpoint/2010/main" val="328252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825C-3549-DA44-A66B-64F1E571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/>
              <a:t>The decision and impacts that will affect the business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73DE9E-2C20-7795-B622-B6D8A3313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8448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160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2902-DD88-16B7-CF90-ED91EBCF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/>
              <a:t>Framing the Cybersecurity Operations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A3719A-A7BF-8053-B771-378B379A6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091284"/>
              </p:ext>
            </p:extLst>
          </p:nvPr>
        </p:nvGraphicFramePr>
        <p:xfrm>
          <a:off x="1378609" y="2112579"/>
          <a:ext cx="9458724" cy="4192806"/>
        </p:xfrm>
        <a:graphic>
          <a:graphicData uri="http://schemas.openxmlformats.org/drawingml/2006/table">
            <a:tbl>
              <a:tblPr/>
              <a:tblGrid>
                <a:gridCol w="3395312">
                  <a:extLst>
                    <a:ext uri="{9D8B030D-6E8A-4147-A177-3AD203B41FA5}">
                      <a16:colId xmlns:a16="http://schemas.microsoft.com/office/drawing/2014/main" val="2894772261"/>
                    </a:ext>
                  </a:extLst>
                </a:gridCol>
                <a:gridCol w="6063412">
                  <a:extLst>
                    <a:ext uri="{9D8B030D-6E8A-4147-A177-3AD203B41FA5}">
                      <a16:colId xmlns:a16="http://schemas.microsoft.com/office/drawing/2014/main" val="2513924010"/>
                    </a:ext>
                  </a:extLst>
                </a:gridCol>
              </a:tblGrid>
              <a:tr h="568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Component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What It Means in This Model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73480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Decision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Fix or defer each vulnerability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985838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Objective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 dirty="0">
                          <a:effectLst/>
                          <a:latin typeface="Arial" panose="020B0604020202020204" pitchFamily="34" charset="0"/>
                        </a:rPr>
                        <a:t>Minimize total risk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999106"/>
                  </a:ext>
                </a:extLst>
              </a:tr>
              <a:tr h="960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Budget Constraint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Total remediation cost must stay within limit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602803"/>
                  </a:ext>
                </a:extLst>
              </a:tr>
              <a:tr h="960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Security Constraint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Must fix a minimum number of critical vulnerabilities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935365"/>
                  </a:ext>
                </a:extLst>
              </a:tr>
              <a:tr h="568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Tradeoff -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High-impact fixes vs limited resources</a:t>
                      </a:r>
                    </a:p>
                  </a:txBody>
                  <a:tcPr marL="130851" marR="130851" marT="65426" marB="65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82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744F-37D6-15DD-CBF3-59707924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4997189" cy="1893524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Risk Reduction by Week Based on Hours Capacity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73312C4C-7CC1-E9F3-0617-5F16DEAD7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2965593"/>
            <a:ext cx="4997189" cy="2941544"/>
          </a:xfrm>
        </p:spPr>
        <p:txBody>
          <a:bodyPr>
            <a:normAutofit/>
          </a:bodyPr>
          <a:lstStyle/>
          <a:p>
            <a:r>
              <a:rPr lang="en-US" sz="1600" dirty="0"/>
              <a:t>A four-week remediation plan that prioritizes the highest-value security actions while staying within limits.</a:t>
            </a:r>
          </a:p>
          <a:p>
            <a:r>
              <a:rPr lang="en-US" sz="1600" dirty="0"/>
              <a:t>Scheduled fixes should be where risk reduction per unit</a:t>
            </a:r>
            <a:r>
              <a:rPr lang="en-US" sz="1600" b="1" dirty="0"/>
              <a:t> </a:t>
            </a:r>
            <a:r>
              <a:rPr lang="en-US" sz="1600" dirty="0"/>
              <a:t>is strongest and spread across the weeks, so the team does not overload maintenance windows.</a:t>
            </a:r>
          </a:p>
          <a:p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714515-2197-0981-ACC3-652C37A11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" r="-1" b="-1"/>
          <a:stretch>
            <a:fillRect/>
          </a:stretch>
        </p:blipFill>
        <p:spPr>
          <a:xfrm>
            <a:off x="6575741" y="895610"/>
            <a:ext cx="4890576" cy="2443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5EDB0-B0DD-B2AA-6B8B-E54E3F342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" r="-1" b="-1"/>
          <a:stretch>
            <a:fillRect/>
          </a:stretch>
        </p:blipFill>
        <p:spPr>
          <a:xfrm>
            <a:off x="6575741" y="3504974"/>
            <a:ext cx="4890576" cy="24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8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DBE6-B749-9E1A-B51A-B81110D7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Sensitivity findings are robust within a range, but not equally sensitive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D6CA-AA06-520D-1DE0-0FF90B603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 dirty="0"/>
              <a:t>Total remediation budget,</a:t>
            </a:r>
            <a:r>
              <a:rPr lang="en-US" sz="1400" dirty="0"/>
              <a:t> </a:t>
            </a:r>
            <a:r>
              <a:rPr lang="en-US" sz="1400" b="1" dirty="0"/>
              <a:t>Weekly analyst hours, Risk reduction estimates: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Reasonably robust when assumptions move within a certain range, but it is not equally sensitive to every parameter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When </a:t>
            </a:r>
            <a:r>
              <a:rPr lang="en-US" sz="1400" b="1" dirty="0"/>
              <a:t>budget decreases</a:t>
            </a:r>
            <a:r>
              <a:rPr lang="en-US" sz="1400" dirty="0"/>
              <a:t>, total risk reduction drops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At the </a:t>
            </a:r>
            <a:r>
              <a:rPr lang="en-US" sz="1400" b="1" dirty="0"/>
              <a:t>base budget</a:t>
            </a:r>
            <a:r>
              <a:rPr lang="en-US" sz="1400" dirty="0"/>
              <a:t>, the model gets a moderate risk reduction 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When </a:t>
            </a:r>
            <a:r>
              <a:rPr lang="en-US" sz="1400" b="1" dirty="0"/>
              <a:t>budget increases</a:t>
            </a:r>
            <a:r>
              <a:rPr lang="en-US" sz="1400" dirty="0"/>
              <a:t>, risk reduction improves significantly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9243FE4-57A8-BD57-F268-73A95A6B8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257" y="2594484"/>
            <a:ext cx="4613872" cy="228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399A-88F3-1444-C5B6-23025CB5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Over-time efficiency based on a four-week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49609-8824-DA26-25B2-37ABE1A92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The four-week structure creates a practical rollout schedule rather than a generic priority list.</a:t>
            </a:r>
          </a:p>
          <a:p>
            <a:pPr lvl="1"/>
            <a:r>
              <a:rPr lang="en-US" sz="2000" dirty="0"/>
              <a:t>Leadership doesn’t approve risk reduction, they approve work that must be staffed, scheduled, and coordinated with operations.</a:t>
            </a:r>
          </a:p>
          <a:p>
            <a:r>
              <a:rPr lang="en-US" sz="2400" dirty="0"/>
              <a:t>Time is a real part of this cybersecurity problem because remediation is not a one-time thing.</a:t>
            </a:r>
          </a:p>
          <a:p>
            <a:pPr lvl="1"/>
            <a:r>
              <a:rPr lang="en-US" sz="2000" dirty="0"/>
              <a:t>It must be performed over multiple days or weeks.</a:t>
            </a:r>
          </a:p>
          <a:p>
            <a:pPr lvl="1"/>
            <a:r>
              <a:rPr lang="en-US" sz="2000" dirty="0"/>
              <a:t>It must decide when to perform each fix, so the team does not exceed analyst hours or interrupt business systems all at once.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944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4A22-8F69-166A-6078-EEE5204A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Limitations of the model-with real world 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3EF1-CDCD-5F9E-738B-8F3F2F006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assumes risk reduction is linear, but real security gains often have diminishing returns.</a:t>
            </a:r>
          </a:p>
          <a:p>
            <a:r>
              <a:rPr lang="en-US" dirty="0"/>
              <a:t>Treats vulnerabilities as independent, but real attacks can chain multiple weaknesses.</a:t>
            </a:r>
          </a:p>
          <a:p>
            <a:r>
              <a:rPr lang="en-US" dirty="0"/>
              <a:t>Assumes fixed labor and downtime, while capacity can shift week to week.</a:t>
            </a:r>
          </a:p>
          <a:p>
            <a:r>
              <a:rPr lang="en-US" dirty="0"/>
              <a:t>Uses estimated risk scores, which may not reflect real exploit likelihood.</a:t>
            </a:r>
          </a:p>
          <a:p>
            <a:r>
              <a:rPr lang="en-US" dirty="0"/>
              <a:t>Produces a feasible plan, but execution risk (delays, outages) is not modeled.</a:t>
            </a:r>
          </a:p>
        </p:txBody>
      </p:sp>
    </p:spTree>
    <p:extLst>
      <p:ext uri="{BB962C8B-B14F-4D97-AF65-F5344CB8AC3E}">
        <p14:creationId xmlns:p14="http://schemas.microsoft.com/office/powerpoint/2010/main" val="311112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8C90-377D-1ABB-D9B1-81C8EDB2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Final Iteration output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0E0BD-2510-5F92-E46F-5C363FA9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DO NOT blindly follow the model, always make sure to have human checkpoints.</a:t>
            </a:r>
          </a:p>
          <a:p>
            <a:r>
              <a:rPr lang="en-US" dirty="0"/>
              <a:t>Execute the four-week remediation plan produced by the model, beginning with the highest-value critical assets.</a:t>
            </a:r>
          </a:p>
          <a:p>
            <a:r>
              <a:rPr lang="en-US" dirty="0"/>
              <a:t> This plan delivers the strongest risk reduction without exceeding labor, downtime, or budget limits.</a:t>
            </a:r>
          </a:p>
          <a:p>
            <a:r>
              <a:rPr lang="en-US" dirty="0"/>
              <a:t>The organization should validate two assumptions: </a:t>
            </a:r>
          </a:p>
          <a:p>
            <a:pPr lvl="1"/>
            <a:r>
              <a:rPr lang="en-US" dirty="0"/>
              <a:t>First, that the estimated risk reduction values are directionally correct.</a:t>
            </a:r>
          </a:p>
          <a:p>
            <a:pPr lvl="1"/>
            <a:r>
              <a:rPr lang="en-US" dirty="0"/>
              <a:t>Second, that the required analyst hours are realistic given other security work.</a:t>
            </a:r>
          </a:p>
          <a:p>
            <a:r>
              <a:rPr lang="en-US" dirty="0"/>
              <a:t>The first step should be to confirm the Week 1 and Week 2 maintenance windows with owners, then lock the initial remediation schedule and review capacity again at the end of each week.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829496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</TotalTime>
  <Words>550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Corbel</vt:lpstr>
      <vt:lpstr>Gill Sans MT</vt:lpstr>
      <vt:lpstr>Trebuchet MS</vt:lpstr>
      <vt:lpstr>Wingdings</vt:lpstr>
      <vt:lpstr>Wingdings 3</vt:lpstr>
      <vt:lpstr>Gallery</vt:lpstr>
      <vt:lpstr>Facet</vt:lpstr>
      <vt:lpstr>Banded</vt:lpstr>
      <vt:lpstr>Cybersecurity Operations</vt:lpstr>
      <vt:lpstr>The decision and impacts that will affect the business</vt:lpstr>
      <vt:lpstr>Framing the Cybersecurity Operations model</vt:lpstr>
      <vt:lpstr>Risk Reduction by Week Based on Hours Capacity</vt:lpstr>
      <vt:lpstr>Sensitivity findings are robust within a range, but not equally sensitive</vt:lpstr>
      <vt:lpstr>Over-time efficiency based on a four-week program</vt:lpstr>
      <vt:lpstr>Limitations of the model-with real world reflections</vt:lpstr>
      <vt:lpstr>Final Iteration output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Tilley, Trevor</dc:creator>
  <cp:lastModifiedBy>Tilley, Trevor</cp:lastModifiedBy>
  <cp:revision>3</cp:revision>
  <dcterms:created xsi:type="dcterms:W3CDTF">2026-04-19T19:52:47Z</dcterms:created>
  <dcterms:modified xsi:type="dcterms:W3CDTF">2026-04-19T20:43:13Z</dcterms:modified>
</cp:coreProperties>
</file>